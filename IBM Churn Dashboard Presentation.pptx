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lus Jakarta Sans" panose="020B0604020202020204" charset="0"/>
      <p:regular r:id="rId8"/>
      <p:bold r:id="rId9"/>
      <p:italic r:id="rId10"/>
      <p:boldItalic r:id="rId11"/>
    </p:embeddedFont>
    <p:embeddedFont>
      <p:font typeface="Plus Jakarta Sans Medium" panose="020B0604020202020204" charset="0"/>
      <p:regular r:id="rId12"/>
      <p:bold r:id="rId13"/>
      <p:italic r:id="rId14"/>
      <p:boldItalic r:id="rId15"/>
    </p:embeddedFont>
    <p:embeddedFont>
      <p:font typeface="Plus Jakarta Sans SemiBold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A8ECA0-2550-4D3D-924A-853145C3154F}">
  <a:tblStyle styleId="{A2A8ECA0-2550-4D3D-924A-853145C3154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34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6575" y="4349948"/>
            <a:ext cx="60388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130629" y="1974651"/>
            <a:ext cx="5930741" cy="1489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IBM Churn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1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Design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67050" y="3606998"/>
            <a:ext cx="60579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Capstone Project: End-to-End Analytics &amp; Customer Retention UX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19475" y="4502348"/>
            <a:ext cx="53530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4D39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PREDICTIVE MODELING | DATA VISUALIZATION | COHORT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2212"/>
            <a:ext cx="52863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66775" y="2757487"/>
            <a:ext cx="493061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4D39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Main Objective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3186112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Develop an interactive, executive-ready dashboard to visualize Telco churn drivers and flag at-risk subscribers in near real-time.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4148137"/>
            <a:ext cx="46958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transforming raw demographic, billing, and system metrics into predictive customer intelligence, the retention team can proactively initiate saving outreach.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34125" y="2462212"/>
            <a:ext cx="55506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Core Pillars of Analysis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2938462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Financial Attrition Profile: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Evaluating Month-to-Month contracts versus Annual commitments against overall monthly spend.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3595687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Product &amp; Technical Gaps: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Correlating high fiber optic user churn to potential service satisfaction outliers.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4252912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Loyalty Lifespans: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Identifying first-year "inflection intervals" where subscriber churn rates spike heavily.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718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6290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2862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</a:t>
            </a:r>
            <a:r>
              <a:rPr lang="en-US" sz="30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Aim</a:t>
            </a: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&amp; Core Analysis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" name="Google Shape;112;p15"/>
          <p:cNvGraphicFramePr/>
          <p:nvPr>
            <p:extLst>
              <p:ext uri="{D42A27DB-BD31-4B8C-83A1-F6EECF244321}">
                <p14:modId xmlns:p14="http://schemas.microsoft.com/office/powerpoint/2010/main" val="595850810"/>
              </p:ext>
            </p:extLst>
          </p:nvPr>
        </p:nvGraphicFramePr>
        <p:xfrm>
          <a:off x="571500" y="1845468"/>
          <a:ext cx="11049000" cy="3628975"/>
        </p:xfrm>
        <a:graphic>
          <a:graphicData uri="http://schemas.openxmlformats.org/drawingml/2006/table">
            <a:tbl>
              <a:tblPr firstRow="1" bandRow="1">
                <a:noFill/>
                <a:tableStyleId>{A2A8ECA0-2550-4D3D-924A-853145C3154F}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D399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Variable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D399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4D399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Analytical Purpose &amp; Relevance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CustomerID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Alphanumeric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Unique index to query, isolate, and route individual accounts to retention teams.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Tenure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Numerical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Represents subscriber loyalty months; heavily correlated with core brand stickiness.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Contract Type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Categorical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Segment commitment term (Monthly vs 1/2 Yr); key leverage point for contract migration.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Monthly Charges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Float / Price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Absolute billing cost metric; helps establish high-value customer churn thresholds.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Internet Service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Categorical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Broadband type indicators (DSL, Fiber, None) linked to product-level churn anomalies.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Churn (Target)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Binary (Y/N)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Historical ground truth label used to train predictive models and compute baseline attrition.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3" name="Google Shape;113;p15"/>
          <p:cNvSpPr txBox="1"/>
          <p:nvPr/>
        </p:nvSpPr>
        <p:spPr>
          <a:xfrm>
            <a:off x="571500" y="5712618"/>
            <a:ext cx="110490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*Dataset: IBM Telco Customer Data (7,043 cohorts tracked across 21 multi-dimensional features).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2340768"/>
            <a:ext cx="27622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3333750" y="2340768"/>
            <a:ext cx="22098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543550" y="2340768"/>
            <a:ext cx="6076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1500" y="2812256"/>
            <a:ext cx="2762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333750" y="2812256"/>
            <a:ext cx="2209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543550" y="2812256"/>
            <a:ext cx="6076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3269456"/>
            <a:ext cx="2762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333750" y="3269456"/>
            <a:ext cx="2209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543550" y="3269456"/>
            <a:ext cx="6076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1500" y="3907631"/>
            <a:ext cx="2762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333750" y="3907631"/>
            <a:ext cx="2209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543550" y="3907631"/>
            <a:ext cx="6076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71500" y="4364831"/>
            <a:ext cx="2762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333750" y="4364831"/>
            <a:ext cx="2209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543550" y="4364831"/>
            <a:ext cx="6076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4822031"/>
            <a:ext cx="2762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333750" y="4822031"/>
            <a:ext cx="2209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543550" y="4822031"/>
            <a:ext cx="6076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71500" y="5460206"/>
            <a:ext cx="2762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3333750" y="5460206"/>
            <a:ext cx="2209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543550" y="5460206"/>
            <a:ext cx="6076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</a:t>
            </a:r>
            <a:r>
              <a:rPr lang="en-US" sz="30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Metadata</a:t>
            </a: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Overview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1404937"/>
            <a:ext cx="5000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</a:t>
            </a:r>
            <a:r>
              <a:rPr lang="en-US" sz="30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Layout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404937"/>
            <a:ext cx="47625" cy="4857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2224087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Target UI/UX Architecture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2633662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interface divides business intelligence and model feedback into three structured viewzones: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04875" y="3481387"/>
            <a:ext cx="4619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Primary KPIs: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Overall Churn Rate, High-Risk ARR, and Segment distribution.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04875" y="4138612"/>
            <a:ext cx="4619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Operational Slicers: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Dynamic filters tracking Contract, Payment method, and Support tiers.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04875" y="4795837"/>
            <a:ext cx="4619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Watchlist Table: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Generates real-time, prioritize save-alerts of high-risk accounts.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147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71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291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8412"/>
            <a:ext cx="349240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38412"/>
            <a:ext cx="3492549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538412"/>
            <a:ext cx="3492400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488156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Capstone Core Deliverable:</a:t>
            </a:r>
            <a:r>
              <a:rPr lang="en-US" sz="1350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 A production-grade reporting interface connecting backend predictions to frontline retention success.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66775" y="2833687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15%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66775" y="3538537"/>
            <a:ext cx="29018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Churn Target Drop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66775" y="3824287"/>
            <a:ext cx="29018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using targeted save strategies based on immediate dashboard risk triggers.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644925" y="283368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$2.4M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644925" y="3538537"/>
            <a:ext cx="290199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Saved Revenue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644925" y="3824287"/>
            <a:ext cx="290199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Expected ARR retained by focusing specifically on at-risk Fiber users.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423225" y="2833687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&gt;85%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423225" y="3538537"/>
            <a:ext cx="29018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 Precision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423225" y="3824287"/>
            <a:ext cx="29018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Accurately mapping and flagging subscriber risk thresholds directly in UI.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Business </a:t>
            </a:r>
            <a:r>
              <a:rPr lang="en-US" sz="30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Outcomes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Widescreen</PresentationFormat>
  <Paragraphs>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Plus Jakarta Sans SemiBold</vt:lpstr>
      <vt:lpstr>Urbanist SemiBold</vt:lpstr>
      <vt:lpstr>Plus Jakarta Sans Medium</vt:lpstr>
      <vt:lpstr>Urbanist</vt:lpstr>
      <vt:lpstr>Arial</vt:lpstr>
      <vt:lpstr>Urbanist Medium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bhavesh tiwari</cp:lastModifiedBy>
  <cp:revision>1</cp:revision>
  <dcterms:modified xsi:type="dcterms:W3CDTF">2026-07-02T05:25:17Z</dcterms:modified>
</cp:coreProperties>
</file>